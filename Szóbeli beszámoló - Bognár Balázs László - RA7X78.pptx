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8" r:id="rId7"/>
    <p:sldId id="267" r:id="rId8"/>
    <p:sldId id="261" r:id="rId9"/>
    <p:sldId id="262" r:id="rId10"/>
    <p:sldId id="263" r:id="rId11"/>
    <p:sldId id="264" r:id="rId12"/>
    <p:sldId id="265" r:id="rId13"/>
    <p:sldId id="266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778539B6-834B-7C91-5137-E40D3AC8D8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1CAC48F-68E2-4A41-E5AC-93DA33C2C4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040DB-F674-4D43-9CE4-F1BFBA81CD39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58964EB-A9B3-54ED-7CDE-A46D49E0BC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CC52AC7-0F14-D43E-010A-7D75EA147E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77B01-BAC7-4DBD-A217-1F08178455F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99834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0E892-7022-497D-AB08-6A70BE2CEA04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DF46F-A3D7-47E5-84DB-89AF5A48F75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46080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 dirty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FF0524C-D255-4280-8B58-8673BA25BE2F}" type="datetime1">
              <a:rPr lang="hu-HU" smtClean="0"/>
              <a:t>2026. 05. 27.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DD461A-B46E-40BB-9401-56EC0CE18AF4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" name="Picture 2" descr="Department of Telecommunications and Artificial Intelligence | Faculty of  Electrical Engineering and InformaticsBudapest University of Technology and  Economics">
            <a:extLst>
              <a:ext uri="{FF2B5EF4-FFF2-40B4-BE49-F238E27FC236}">
                <a16:creationId xmlns:a16="http://schemas.microsoft.com/office/drawing/2014/main" id="{A7DB1C24-0E96-94CD-84C4-73BAF55BC9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2464" y1="33333" x2="22464" y2="33333"/>
                        <a14:foregroundMark x1="22754" y1="33333" x2="23478" y2="34615"/>
                        <a14:foregroundMark x1="22464" y1="33590" x2="20435" y2="31795"/>
                        <a14:foregroundMark x1="19710" y1="32308" x2="21159" y2="37949"/>
                        <a14:foregroundMark x1="20435" y1="35385" x2="20870" y2="37949"/>
                        <a14:foregroundMark x1="41884" y1="41026" x2="46667" y2="40513"/>
                        <a14:foregroundMark x1="43623" y1="44103" x2="43913" y2="52564"/>
                        <a14:foregroundMark x1="53333" y1="40256" x2="52899" y2="52051"/>
                        <a14:foregroundMark x1="69130" y1="40000" x2="69275" y2="42564"/>
                        <a14:foregroundMark x1="68986" y1="50000" x2="69420" y2="54615"/>
                        <a14:foregroundMark x1="73913" y1="41026" x2="76812" y2="40000"/>
                        <a14:foregroundMark x1="17826" y1="34359" x2="20725" y2="43590"/>
                        <a14:foregroundMark x1="20580" y1="44103" x2="17536" y2="48974"/>
                        <a14:foregroundMark x1="21449" y1="59487" x2="20435" y2="46410"/>
                        <a14:foregroundMark x1="20435" y1="46410" x2="27536" y2="57949"/>
                        <a14:foregroundMark x1="27536" y1="57949" x2="27971" y2="47692"/>
                        <a14:foregroundMark x1="24783" y1="60256" x2="27101" y2="46154"/>
                        <a14:foregroundMark x1="27101" y1="46154" x2="26812" y2="47179"/>
                        <a14:foregroundMark x1="28406" y1="52051" x2="28986" y2="41795"/>
                        <a14:foregroundMark x1="29130" y1="44872" x2="26087" y2="35897"/>
                        <a14:foregroundMark x1="26377" y1="43590" x2="19130" y2="40000"/>
                        <a14:foregroundMark x1="19130" y1="40000" x2="17246" y2="48462"/>
                        <a14:foregroundMark x1="19855" y1="52051" x2="20000" y2="602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795" y="-72611"/>
            <a:ext cx="3268245" cy="184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3027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06E21-5EA3-4FCF-AB48-30E98F637431}" type="datetime1">
              <a:rPr lang="hu-HU" smtClean="0"/>
              <a:t>2026. 05. 27.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DD461A-B46E-40BB-9401-56EC0CE18AF4}" type="slidenum">
              <a:rPr lang="hu-HU" smtClean="0"/>
              <a:pPr/>
              <a:t>‹#›</a:t>
            </a:fld>
            <a:endParaRPr lang="hu-HU" dirty="0"/>
          </a:p>
        </p:txBody>
      </p:sp>
      <p:pic>
        <p:nvPicPr>
          <p:cNvPr id="9" name="Picture 2" descr="Department of Telecommunications and Artificial Intelligence | Faculty of  Electrical Engineering and InformaticsBudapest University of Technology and  Economics">
            <a:extLst>
              <a:ext uri="{FF2B5EF4-FFF2-40B4-BE49-F238E27FC236}">
                <a16:creationId xmlns:a16="http://schemas.microsoft.com/office/drawing/2014/main" id="{BEEE1054-EB1E-AB37-1853-5BFABBDE76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2464" y1="33333" x2="22464" y2="33333"/>
                        <a14:foregroundMark x1="22754" y1="33333" x2="23478" y2="34615"/>
                        <a14:foregroundMark x1="22464" y1="33590" x2="20435" y2="31795"/>
                        <a14:foregroundMark x1="19710" y1="32308" x2="21159" y2="37949"/>
                        <a14:foregroundMark x1="20435" y1="35385" x2="20870" y2="37949"/>
                        <a14:foregroundMark x1="41884" y1="41026" x2="46667" y2="40513"/>
                        <a14:foregroundMark x1="43623" y1="44103" x2="43913" y2="52564"/>
                        <a14:foregroundMark x1="53333" y1="40256" x2="52899" y2="52051"/>
                        <a14:foregroundMark x1="69130" y1="40000" x2="69275" y2="42564"/>
                        <a14:foregroundMark x1="68986" y1="50000" x2="69420" y2="54615"/>
                        <a14:foregroundMark x1="73913" y1="41026" x2="76812" y2="40000"/>
                        <a14:foregroundMark x1="17826" y1="34359" x2="20725" y2="43590"/>
                        <a14:foregroundMark x1="20580" y1="44103" x2="17536" y2="48974"/>
                        <a14:foregroundMark x1="21449" y1="59487" x2="20435" y2="46410"/>
                        <a14:foregroundMark x1="20435" y1="46410" x2="27536" y2="57949"/>
                        <a14:foregroundMark x1="27536" y1="57949" x2="27971" y2="47692"/>
                        <a14:foregroundMark x1="24783" y1="60256" x2="27101" y2="46154"/>
                        <a14:foregroundMark x1="27101" y1="46154" x2="26812" y2="47179"/>
                        <a14:foregroundMark x1="28406" y1="52051" x2="28986" y2="41795"/>
                        <a14:foregroundMark x1="29130" y1="44872" x2="26087" y2="35897"/>
                        <a14:foregroundMark x1="26377" y1="43590" x2="19130" y2="40000"/>
                        <a14:foregroundMark x1="19130" y1="40000" x2="17246" y2="48462"/>
                        <a14:foregroundMark x1="19855" y1="52051" x2="20000" y2="602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795" y="-72611"/>
            <a:ext cx="3268245" cy="184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96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A4E7B-7CE0-4A20-9129-A9C9EDED0F8A}" type="datetime1">
              <a:rPr lang="hu-HU" smtClean="0"/>
              <a:t>2026. 05. 27.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DD461A-B46E-40BB-9401-56EC0CE18AF4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" name="Picture 2" descr="Department of Telecommunications and Artificial Intelligence | Faculty of  Electrical Engineering and InformaticsBudapest University of Technology and  Economics">
            <a:extLst>
              <a:ext uri="{FF2B5EF4-FFF2-40B4-BE49-F238E27FC236}">
                <a16:creationId xmlns:a16="http://schemas.microsoft.com/office/drawing/2014/main" id="{FCA4B12B-F9FC-A1EF-9B81-1F61EF839B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2464" y1="33333" x2="22464" y2="33333"/>
                        <a14:foregroundMark x1="22754" y1="33333" x2="23478" y2="34615"/>
                        <a14:foregroundMark x1="22464" y1="33590" x2="20435" y2="31795"/>
                        <a14:foregroundMark x1="19710" y1="32308" x2="21159" y2="37949"/>
                        <a14:foregroundMark x1="20435" y1="35385" x2="20870" y2="37949"/>
                        <a14:foregroundMark x1="41884" y1="41026" x2="46667" y2="40513"/>
                        <a14:foregroundMark x1="43623" y1="44103" x2="43913" y2="52564"/>
                        <a14:foregroundMark x1="53333" y1="40256" x2="52899" y2="52051"/>
                        <a14:foregroundMark x1="69130" y1="40000" x2="69275" y2="42564"/>
                        <a14:foregroundMark x1="68986" y1="50000" x2="69420" y2="54615"/>
                        <a14:foregroundMark x1="73913" y1="41026" x2="76812" y2="40000"/>
                        <a14:foregroundMark x1="17826" y1="34359" x2="20725" y2="43590"/>
                        <a14:foregroundMark x1="20580" y1="44103" x2="17536" y2="48974"/>
                        <a14:foregroundMark x1="21449" y1="59487" x2="20435" y2="46410"/>
                        <a14:foregroundMark x1="20435" y1="46410" x2="27536" y2="57949"/>
                        <a14:foregroundMark x1="27536" y1="57949" x2="27971" y2="47692"/>
                        <a14:foregroundMark x1="24783" y1="60256" x2="27101" y2="46154"/>
                        <a14:foregroundMark x1="27101" y1="46154" x2="26812" y2="47179"/>
                        <a14:foregroundMark x1="28406" y1="52051" x2="28986" y2="41795"/>
                        <a14:foregroundMark x1="29130" y1="44872" x2="26087" y2="35897"/>
                        <a14:foregroundMark x1="26377" y1="43590" x2="19130" y2="40000"/>
                        <a14:foregroundMark x1="19130" y1="40000" x2="17246" y2="48462"/>
                        <a14:foregroundMark x1="19855" y1="52051" x2="20000" y2="602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795" y="-72611"/>
            <a:ext cx="3268245" cy="184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522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4917-9E23-4411-A2DB-A2B899131613}" type="datetime1">
              <a:rPr lang="hu-HU" smtClean="0"/>
              <a:t>2026. 05. 27.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461A-B46E-40BB-9401-56EC0CE18AF4}" type="slidenum">
              <a:rPr lang="hu-HU" smtClean="0"/>
              <a:t>‹#›</a:t>
            </a:fld>
            <a:endParaRPr lang="hu-HU"/>
          </a:p>
        </p:txBody>
      </p:sp>
      <p:pic>
        <p:nvPicPr>
          <p:cNvPr id="9" name="Picture 2" descr="Department of Telecommunications and Artificial Intelligence | Faculty of  Electrical Engineering and InformaticsBudapest University of Technology and  Economics">
            <a:extLst>
              <a:ext uri="{FF2B5EF4-FFF2-40B4-BE49-F238E27FC236}">
                <a16:creationId xmlns:a16="http://schemas.microsoft.com/office/drawing/2014/main" id="{0C1532C7-D79D-104F-2D30-710BAAA9EA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2464" y1="33333" x2="22464" y2="33333"/>
                        <a14:foregroundMark x1="22754" y1="33333" x2="23478" y2="34615"/>
                        <a14:foregroundMark x1="22464" y1="33590" x2="20435" y2="31795"/>
                        <a14:foregroundMark x1="19710" y1="32308" x2="21159" y2="37949"/>
                        <a14:foregroundMark x1="20435" y1="35385" x2="20870" y2="37949"/>
                        <a14:foregroundMark x1="41884" y1="41026" x2="46667" y2="40513"/>
                        <a14:foregroundMark x1="43623" y1="44103" x2="43913" y2="52564"/>
                        <a14:foregroundMark x1="53333" y1="40256" x2="52899" y2="52051"/>
                        <a14:foregroundMark x1="69130" y1="40000" x2="69275" y2="42564"/>
                        <a14:foregroundMark x1="68986" y1="50000" x2="69420" y2="54615"/>
                        <a14:foregroundMark x1="73913" y1="41026" x2="76812" y2="40000"/>
                        <a14:foregroundMark x1="17826" y1="34359" x2="20725" y2="43590"/>
                        <a14:foregroundMark x1="20580" y1="44103" x2="17536" y2="48974"/>
                        <a14:foregroundMark x1="21449" y1="59487" x2="20435" y2="46410"/>
                        <a14:foregroundMark x1="20435" y1="46410" x2="27536" y2="57949"/>
                        <a14:foregroundMark x1="27536" y1="57949" x2="27971" y2="47692"/>
                        <a14:foregroundMark x1="24783" y1="60256" x2="27101" y2="46154"/>
                        <a14:foregroundMark x1="27101" y1="46154" x2="26812" y2="47179"/>
                        <a14:foregroundMark x1="28406" y1="52051" x2="28986" y2="41795"/>
                        <a14:foregroundMark x1="29130" y1="44872" x2="26087" y2="35897"/>
                        <a14:foregroundMark x1="26377" y1="43590" x2="19130" y2="40000"/>
                        <a14:foregroundMark x1="19130" y1="40000" x2="17246" y2="48462"/>
                        <a14:foregroundMark x1="19855" y1="52051" x2="20000" y2="602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795" y="-72611"/>
            <a:ext cx="3268245" cy="184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4058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8158-A174-49E2-8F8A-A0AF108B2B5F}" type="datetime1">
              <a:rPr lang="hu-HU" smtClean="0"/>
              <a:t>2026. 05. 27.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461A-B46E-40BB-9401-56EC0CE18AF4}" type="slidenum">
              <a:rPr lang="hu-HU" smtClean="0"/>
              <a:t>‹#›</a:t>
            </a:fld>
            <a:endParaRPr lang="hu-HU"/>
          </a:p>
        </p:txBody>
      </p:sp>
      <p:pic>
        <p:nvPicPr>
          <p:cNvPr id="12" name="Picture 2" descr="Department of Telecommunications and Artificial Intelligence | Faculty of  Electrical Engineering and InformaticsBudapest University of Technology and  Economics">
            <a:extLst>
              <a:ext uri="{FF2B5EF4-FFF2-40B4-BE49-F238E27FC236}">
                <a16:creationId xmlns:a16="http://schemas.microsoft.com/office/drawing/2014/main" id="{AEDE50E9-FC8B-3160-8906-5BC93D288B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2464" y1="33333" x2="22464" y2="33333"/>
                        <a14:foregroundMark x1="22754" y1="33333" x2="23478" y2="34615"/>
                        <a14:foregroundMark x1="22464" y1="33590" x2="20435" y2="31795"/>
                        <a14:foregroundMark x1="19710" y1="32308" x2="21159" y2="37949"/>
                        <a14:foregroundMark x1="20435" y1="35385" x2="20870" y2="37949"/>
                        <a14:foregroundMark x1="41884" y1="41026" x2="46667" y2="40513"/>
                        <a14:foregroundMark x1="43623" y1="44103" x2="43913" y2="52564"/>
                        <a14:foregroundMark x1="53333" y1="40256" x2="52899" y2="52051"/>
                        <a14:foregroundMark x1="69130" y1="40000" x2="69275" y2="42564"/>
                        <a14:foregroundMark x1="68986" y1="50000" x2="69420" y2="54615"/>
                        <a14:foregroundMark x1="73913" y1="41026" x2="76812" y2="40000"/>
                        <a14:foregroundMark x1="17826" y1="34359" x2="20725" y2="43590"/>
                        <a14:foregroundMark x1="20580" y1="44103" x2="17536" y2="48974"/>
                        <a14:foregroundMark x1="21449" y1="59487" x2="20435" y2="46410"/>
                        <a14:foregroundMark x1="20435" y1="46410" x2="27536" y2="57949"/>
                        <a14:foregroundMark x1="27536" y1="57949" x2="27971" y2="47692"/>
                        <a14:foregroundMark x1="24783" y1="60256" x2="27101" y2="46154"/>
                        <a14:foregroundMark x1="27101" y1="46154" x2="26812" y2="47179"/>
                        <a14:foregroundMark x1="28406" y1="52051" x2="28986" y2="41795"/>
                        <a14:foregroundMark x1="29130" y1="44872" x2="26087" y2="35897"/>
                        <a14:foregroundMark x1="26377" y1="43590" x2="19130" y2="40000"/>
                        <a14:foregroundMark x1="19130" y1="40000" x2="17246" y2="48462"/>
                        <a14:foregroundMark x1="19855" y1="52051" x2="20000" y2="602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795" y="-72611"/>
            <a:ext cx="3268245" cy="184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832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1122C-3E4D-426B-AE50-F07FC6ED7303}" type="datetime1">
              <a:rPr lang="hu-HU" smtClean="0"/>
              <a:t>2026. 05. 27.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461A-B46E-40BB-9401-56EC0CE18AF4}" type="slidenum">
              <a:rPr lang="hu-HU" smtClean="0"/>
              <a:t>‹#›</a:t>
            </a:fld>
            <a:endParaRPr lang="hu-HU"/>
          </a:p>
        </p:txBody>
      </p:sp>
      <p:pic>
        <p:nvPicPr>
          <p:cNvPr id="7" name="Picture 2" descr="Department of Telecommunications and Artificial Intelligence | Faculty of  Electrical Engineering and InformaticsBudapest University of Technology and  Economics">
            <a:extLst>
              <a:ext uri="{FF2B5EF4-FFF2-40B4-BE49-F238E27FC236}">
                <a16:creationId xmlns:a16="http://schemas.microsoft.com/office/drawing/2014/main" id="{5DAE11E0-2237-F0A6-A05B-62A5614160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2464" y1="33333" x2="22464" y2="33333"/>
                        <a14:foregroundMark x1="22754" y1="33333" x2="23478" y2="34615"/>
                        <a14:foregroundMark x1="22464" y1="33590" x2="20435" y2="31795"/>
                        <a14:foregroundMark x1="19710" y1="32308" x2="21159" y2="37949"/>
                        <a14:foregroundMark x1="20435" y1="35385" x2="20870" y2="37949"/>
                        <a14:foregroundMark x1="41884" y1="41026" x2="46667" y2="40513"/>
                        <a14:foregroundMark x1="43623" y1="44103" x2="43913" y2="52564"/>
                        <a14:foregroundMark x1="53333" y1="40256" x2="52899" y2="52051"/>
                        <a14:foregroundMark x1="69130" y1="40000" x2="69275" y2="42564"/>
                        <a14:foregroundMark x1="68986" y1="50000" x2="69420" y2="54615"/>
                        <a14:foregroundMark x1="73913" y1="41026" x2="76812" y2="40000"/>
                        <a14:foregroundMark x1="17826" y1="34359" x2="20725" y2="43590"/>
                        <a14:foregroundMark x1="20580" y1="44103" x2="17536" y2="48974"/>
                        <a14:foregroundMark x1="21449" y1="59487" x2="20435" y2="46410"/>
                        <a14:foregroundMark x1="20435" y1="46410" x2="27536" y2="57949"/>
                        <a14:foregroundMark x1="27536" y1="57949" x2="27971" y2="47692"/>
                        <a14:foregroundMark x1="24783" y1="60256" x2="27101" y2="46154"/>
                        <a14:foregroundMark x1="27101" y1="46154" x2="26812" y2="47179"/>
                        <a14:foregroundMark x1="28406" y1="52051" x2="28986" y2="41795"/>
                        <a14:foregroundMark x1="29130" y1="44872" x2="26087" y2="35897"/>
                        <a14:foregroundMark x1="26377" y1="43590" x2="19130" y2="40000"/>
                        <a14:foregroundMark x1="19130" y1="40000" x2="17246" y2="48462"/>
                        <a14:foregroundMark x1="19855" y1="52051" x2="20000" y2="602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795" y="-72611"/>
            <a:ext cx="3268245" cy="184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672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14E4-544F-4D4E-90EC-0C2B488F62B7}" type="datetime1">
              <a:rPr lang="hu-HU" smtClean="0"/>
              <a:t>2026. 05. 27.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461A-B46E-40BB-9401-56EC0CE18AF4}" type="slidenum">
              <a:rPr lang="hu-HU" smtClean="0"/>
              <a:t>‹#›</a:t>
            </a:fld>
            <a:endParaRPr lang="hu-HU"/>
          </a:p>
        </p:txBody>
      </p:sp>
      <p:pic>
        <p:nvPicPr>
          <p:cNvPr id="6" name="Picture 2" descr="Department of Telecommunications and Artificial Intelligence | Faculty of  Electrical Engineering and InformaticsBudapest University of Technology and  Economics">
            <a:extLst>
              <a:ext uri="{FF2B5EF4-FFF2-40B4-BE49-F238E27FC236}">
                <a16:creationId xmlns:a16="http://schemas.microsoft.com/office/drawing/2014/main" id="{85818C3B-8B1D-F70F-D0EA-B6FB355B83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2464" y1="33333" x2="22464" y2="33333"/>
                        <a14:foregroundMark x1="22754" y1="33333" x2="23478" y2="34615"/>
                        <a14:foregroundMark x1="22464" y1="33590" x2="20435" y2="31795"/>
                        <a14:foregroundMark x1="19710" y1="32308" x2="21159" y2="37949"/>
                        <a14:foregroundMark x1="20435" y1="35385" x2="20870" y2="37949"/>
                        <a14:foregroundMark x1="41884" y1="41026" x2="46667" y2="40513"/>
                        <a14:foregroundMark x1="43623" y1="44103" x2="43913" y2="52564"/>
                        <a14:foregroundMark x1="53333" y1="40256" x2="52899" y2="52051"/>
                        <a14:foregroundMark x1="69130" y1="40000" x2="69275" y2="42564"/>
                        <a14:foregroundMark x1="68986" y1="50000" x2="69420" y2="54615"/>
                        <a14:foregroundMark x1="73913" y1="41026" x2="76812" y2="40000"/>
                        <a14:foregroundMark x1="17826" y1="34359" x2="20725" y2="43590"/>
                        <a14:foregroundMark x1="20580" y1="44103" x2="17536" y2="48974"/>
                        <a14:foregroundMark x1="21449" y1="59487" x2="20435" y2="46410"/>
                        <a14:foregroundMark x1="20435" y1="46410" x2="27536" y2="57949"/>
                        <a14:foregroundMark x1="27536" y1="57949" x2="27971" y2="47692"/>
                        <a14:foregroundMark x1="24783" y1="60256" x2="27101" y2="46154"/>
                        <a14:foregroundMark x1="27101" y1="46154" x2="26812" y2="47179"/>
                        <a14:foregroundMark x1="28406" y1="52051" x2="28986" y2="41795"/>
                        <a14:foregroundMark x1="29130" y1="44872" x2="26087" y2="35897"/>
                        <a14:foregroundMark x1="26377" y1="43590" x2="19130" y2="40000"/>
                        <a14:foregroundMark x1="19130" y1="40000" x2="17246" y2="48462"/>
                        <a14:foregroundMark x1="19855" y1="52051" x2="20000" y2="602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795" y="-72611"/>
            <a:ext cx="3268245" cy="184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594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23F0-0A71-4E99-A1C8-E02F9AF9107E}" type="datetime1">
              <a:rPr lang="hu-HU" smtClean="0"/>
              <a:t>2026. 05. 27.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461A-B46E-40BB-9401-56EC0CE18AF4}" type="slidenum">
              <a:rPr lang="hu-HU" smtClean="0"/>
              <a:t>‹#›</a:t>
            </a:fld>
            <a:endParaRPr lang="hu-HU"/>
          </a:p>
        </p:txBody>
      </p:sp>
      <p:pic>
        <p:nvPicPr>
          <p:cNvPr id="9" name="Picture 2" descr="Department of Telecommunications and Artificial Intelligence | Faculty of  Electrical Engineering and InformaticsBudapest University of Technology and  Economics">
            <a:extLst>
              <a:ext uri="{FF2B5EF4-FFF2-40B4-BE49-F238E27FC236}">
                <a16:creationId xmlns:a16="http://schemas.microsoft.com/office/drawing/2014/main" id="{1BB74852-3692-C808-2E55-B8DEEC6CD4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2464" y1="33333" x2="22464" y2="33333"/>
                        <a14:foregroundMark x1="22754" y1="33333" x2="23478" y2="34615"/>
                        <a14:foregroundMark x1="22464" y1="33590" x2="20435" y2="31795"/>
                        <a14:foregroundMark x1="19710" y1="32308" x2="21159" y2="37949"/>
                        <a14:foregroundMark x1="20435" y1="35385" x2="20870" y2="37949"/>
                        <a14:foregroundMark x1="41884" y1="41026" x2="46667" y2="40513"/>
                        <a14:foregroundMark x1="43623" y1="44103" x2="43913" y2="52564"/>
                        <a14:foregroundMark x1="53333" y1="40256" x2="52899" y2="52051"/>
                        <a14:foregroundMark x1="69130" y1="40000" x2="69275" y2="42564"/>
                        <a14:foregroundMark x1="68986" y1="50000" x2="69420" y2="54615"/>
                        <a14:foregroundMark x1="73913" y1="41026" x2="76812" y2="40000"/>
                        <a14:foregroundMark x1="17826" y1="34359" x2="20725" y2="43590"/>
                        <a14:foregroundMark x1="20580" y1="44103" x2="17536" y2="48974"/>
                        <a14:foregroundMark x1="21449" y1="59487" x2="20435" y2="46410"/>
                        <a14:foregroundMark x1="20435" y1="46410" x2="27536" y2="57949"/>
                        <a14:foregroundMark x1="27536" y1="57949" x2="27971" y2="47692"/>
                        <a14:foregroundMark x1="24783" y1="60256" x2="27101" y2="46154"/>
                        <a14:foregroundMark x1="27101" y1="46154" x2="26812" y2="47179"/>
                        <a14:foregroundMark x1="28406" y1="52051" x2="28986" y2="41795"/>
                        <a14:foregroundMark x1="29130" y1="44872" x2="26087" y2="35897"/>
                        <a14:foregroundMark x1="26377" y1="43590" x2="19130" y2="40000"/>
                        <a14:foregroundMark x1="19130" y1="40000" x2="17246" y2="48462"/>
                        <a14:foregroundMark x1="19855" y1="52051" x2="20000" y2="602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795" y="-72611"/>
            <a:ext cx="3268245" cy="184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35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2DBE-141E-4D18-A63E-E4CFD83E325C}" type="datetime1">
              <a:rPr lang="hu-HU" smtClean="0"/>
              <a:t>2026. 05. 27.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461A-B46E-40BB-9401-56EC0CE18AF4}" type="slidenum">
              <a:rPr lang="hu-HU" smtClean="0"/>
              <a:t>‹#›</a:t>
            </a:fld>
            <a:endParaRPr lang="hu-HU"/>
          </a:p>
        </p:txBody>
      </p:sp>
      <p:pic>
        <p:nvPicPr>
          <p:cNvPr id="10" name="Picture 2" descr="Department of Telecommunications and Artificial Intelligence | Faculty of  Electrical Engineering and InformaticsBudapest University of Technology and  Economics">
            <a:extLst>
              <a:ext uri="{FF2B5EF4-FFF2-40B4-BE49-F238E27FC236}">
                <a16:creationId xmlns:a16="http://schemas.microsoft.com/office/drawing/2014/main" id="{3D9E3A68-C518-9A8E-2D08-33B138A19A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2464" y1="33333" x2="22464" y2="33333"/>
                        <a14:foregroundMark x1="22754" y1="33333" x2="23478" y2="34615"/>
                        <a14:foregroundMark x1="22464" y1="33590" x2="20435" y2="31795"/>
                        <a14:foregroundMark x1="19710" y1="32308" x2="21159" y2="37949"/>
                        <a14:foregroundMark x1="20435" y1="35385" x2="20870" y2="37949"/>
                        <a14:foregroundMark x1="41884" y1="41026" x2="46667" y2="40513"/>
                        <a14:foregroundMark x1="43623" y1="44103" x2="43913" y2="52564"/>
                        <a14:foregroundMark x1="53333" y1="40256" x2="52899" y2="52051"/>
                        <a14:foregroundMark x1="69130" y1="40000" x2="69275" y2="42564"/>
                        <a14:foregroundMark x1="68986" y1="50000" x2="69420" y2="54615"/>
                        <a14:foregroundMark x1="73913" y1="41026" x2="76812" y2="40000"/>
                        <a14:foregroundMark x1="17826" y1="34359" x2="20725" y2="43590"/>
                        <a14:foregroundMark x1="20580" y1="44103" x2="17536" y2="48974"/>
                        <a14:foregroundMark x1="21449" y1="59487" x2="20435" y2="46410"/>
                        <a14:foregroundMark x1="20435" y1="46410" x2="27536" y2="57949"/>
                        <a14:foregroundMark x1="27536" y1="57949" x2="27971" y2="47692"/>
                        <a14:foregroundMark x1="24783" y1="60256" x2="27101" y2="46154"/>
                        <a14:foregroundMark x1="27101" y1="46154" x2="26812" y2="47179"/>
                        <a14:foregroundMark x1="28406" y1="52051" x2="28986" y2="41795"/>
                        <a14:foregroundMark x1="29130" y1="44872" x2="26087" y2="35897"/>
                        <a14:foregroundMark x1="26377" y1="43590" x2="19130" y2="40000"/>
                        <a14:foregroundMark x1="19130" y1="40000" x2="17246" y2="48462"/>
                        <a14:foregroundMark x1="19855" y1="52051" x2="20000" y2="602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795" y="-72611"/>
            <a:ext cx="3268245" cy="184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61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DF48-2A2F-4ADF-A0A9-A43D73CC408E}" type="datetime1">
              <a:rPr lang="hu-HU" smtClean="0"/>
              <a:t>2026. 05. 27.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461A-B46E-40BB-9401-56EC0CE18AF4}" type="slidenum">
              <a:rPr lang="hu-HU" smtClean="0"/>
              <a:t>‹#›</a:t>
            </a:fld>
            <a:endParaRPr lang="hu-HU"/>
          </a:p>
        </p:txBody>
      </p:sp>
      <p:pic>
        <p:nvPicPr>
          <p:cNvPr id="8" name="Picture 2" descr="Department of Telecommunications and Artificial Intelligence | Faculty of  Electrical Engineering and InformaticsBudapest University of Technology and  Economics">
            <a:extLst>
              <a:ext uri="{FF2B5EF4-FFF2-40B4-BE49-F238E27FC236}">
                <a16:creationId xmlns:a16="http://schemas.microsoft.com/office/drawing/2014/main" id="{9BC0F1CC-8416-895F-A298-C58100A30C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2464" y1="33333" x2="22464" y2="33333"/>
                        <a14:foregroundMark x1="22754" y1="33333" x2="23478" y2="34615"/>
                        <a14:foregroundMark x1="22464" y1="33590" x2="20435" y2="31795"/>
                        <a14:foregroundMark x1="19710" y1="32308" x2="21159" y2="37949"/>
                        <a14:foregroundMark x1="20435" y1="35385" x2="20870" y2="37949"/>
                        <a14:foregroundMark x1="41884" y1="41026" x2="46667" y2="40513"/>
                        <a14:foregroundMark x1="43623" y1="44103" x2="43913" y2="52564"/>
                        <a14:foregroundMark x1="53333" y1="40256" x2="52899" y2="52051"/>
                        <a14:foregroundMark x1="69130" y1="40000" x2="69275" y2="42564"/>
                        <a14:foregroundMark x1="68986" y1="50000" x2="69420" y2="54615"/>
                        <a14:foregroundMark x1="73913" y1="41026" x2="76812" y2="40000"/>
                        <a14:foregroundMark x1="17826" y1="34359" x2="20725" y2="43590"/>
                        <a14:foregroundMark x1="20580" y1="44103" x2="17536" y2="48974"/>
                        <a14:foregroundMark x1="21449" y1="59487" x2="20435" y2="46410"/>
                        <a14:foregroundMark x1="20435" y1="46410" x2="27536" y2="57949"/>
                        <a14:foregroundMark x1="27536" y1="57949" x2="27971" y2="47692"/>
                        <a14:foregroundMark x1="24783" y1="60256" x2="27101" y2="46154"/>
                        <a14:foregroundMark x1="27101" y1="46154" x2="26812" y2="47179"/>
                        <a14:foregroundMark x1="28406" y1="52051" x2="28986" y2="41795"/>
                        <a14:foregroundMark x1="29130" y1="44872" x2="26087" y2="35897"/>
                        <a14:foregroundMark x1="26377" y1="43590" x2="19130" y2="40000"/>
                        <a14:foregroundMark x1="19130" y1="40000" x2="17246" y2="48462"/>
                        <a14:foregroundMark x1="19855" y1="52051" x2="20000" y2="602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795" y="-72611"/>
            <a:ext cx="3268245" cy="184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5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0128A-B21C-472F-98AD-4913B0FC005B}" type="datetime1">
              <a:rPr lang="hu-HU" smtClean="0"/>
              <a:t>2026. 05. 27.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461A-B46E-40BB-9401-56EC0CE18AF4}" type="slidenum">
              <a:rPr lang="hu-HU" smtClean="0"/>
              <a:t>‹#›</a:t>
            </a:fld>
            <a:endParaRPr lang="hu-HU"/>
          </a:p>
        </p:txBody>
      </p:sp>
      <p:pic>
        <p:nvPicPr>
          <p:cNvPr id="8" name="Picture 2" descr="Department of Telecommunications and Artificial Intelligence | Faculty of  Electrical Engineering and InformaticsBudapest University of Technology and  Economics">
            <a:extLst>
              <a:ext uri="{FF2B5EF4-FFF2-40B4-BE49-F238E27FC236}">
                <a16:creationId xmlns:a16="http://schemas.microsoft.com/office/drawing/2014/main" id="{6D00E5DF-1E48-884B-BBBB-CF316091D5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2464" y1="33333" x2="22464" y2="33333"/>
                        <a14:foregroundMark x1="22754" y1="33333" x2="23478" y2="34615"/>
                        <a14:foregroundMark x1="22464" y1="33590" x2="20435" y2="31795"/>
                        <a14:foregroundMark x1="19710" y1="32308" x2="21159" y2="37949"/>
                        <a14:foregroundMark x1="20435" y1="35385" x2="20870" y2="37949"/>
                        <a14:foregroundMark x1="41884" y1="41026" x2="46667" y2="40513"/>
                        <a14:foregroundMark x1="43623" y1="44103" x2="43913" y2="52564"/>
                        <a14:foregroundMark x1="53333" y1="40256" x2="52899" y2="52051"/>
                        <a14:foregroundMark x1="69130" y1="40000" x2="69275" y2="42564"/>
                        <a14:foregroundMark x1="68986" y1="50000" x2="69420" y2="54615"/>
                        <a14:foregroundMark x1="73913" y1="41026" x2="76812" y2="40000"/>
                        <a14:foregroundMark x1="17826" y1="34359" x2="20725" y2="43590"/>
                        <a14:foregroundMark x1="20580" y1="44103" x2="17536" y2="48974"/>
                        <a14:foregroundMark x1="21449" y1="59487" x2="20435" y2="46410"/>
                        <a14:foregroundMark x1="20435" y1="46410" x2="27536" y2="57949"/>
                        <a14:foregroundMark x1="27536" y1="57949" x2="27971" y2="47692"/>
                        <a14:foregroundMark x1="24783" y1="60256" x2="27101" y2="46154"/>
                        <a14:foregroundMark x1="27101" y1="46154" x2="26812" y2="47179"/>
                        <a14:foregroundMark x1="28406" y1="52051" x2="28986" y2="41795"/>
                        <a14:foregroundMark x1="29130" y1="44872" x2="26087" y2="35897"/>
                        <a14:foregroundMark x1="26377" y1="43590" x2="19130" y2="40000"/>
                        <a14:foregroundMark x1="19130" y1="40000" x2="17246" y2="48462"/>
                        <a14:foregroundMark x1="19855" y1="52051" x2="20000" y2="602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795" y="-72611"/>
            <a:ext cx="3268245" cy="184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548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892E2CC-4AC9-41DD-A7B9-4C925EDFD088}" type="datetime1">
              <a:rPr lang="hu-HU" smtClean="0"/>
              <a:t>2026. 05. 27.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62DD461A-B46E-40BB-9401-56EC0CE18A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731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D0C402-A892-7FEF-64EB-C7E79B2F52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u-HU" dirty="0"/>
              <a:t>League of </a:t>
            </a:r>
            <a:r>
              <a:rPr lang="hu-HU" dirty="0" err="1"/>
              <a:t>Legends</a:t>
            </a:r>
            <a:r>
              <a:rPr lang="hu-HU" dirty="0"/>
              <a:t> Analitika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C639FC3-6809-0BEB-63BC-3AA924D4C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hu-HU" dirty="0"/>
              <a:t>Bognár Balázs László (RA7X78)</a:t>
            </a:r>
          </a:p>
          <a:p>
            <a:pPr algn="ctr"/>
            <a:r>
              <a:rPr lang="hu-HU" dirty="0"/>
              <a:t>Konzulensek: Toka László, </a:t>
            </a:r>
            <a:r>
              <a:rPr lang="hu-HU" dirty="0" err="1"/>
              <a:t>Szmida</a:t>
            </a:r>
            <a:r>
              <a:rPr lang="hu-HU" dirty="0"/>
              <a:t> Patrik Péter</a:t>
            </a:r>
          </a:p>
          <a:p>
            <a:pPr algn="ctr"/>
            <a:r>
              <a:rPr lang="hu-HU" dirty="0"/>
              <a:t>Távközlési és Mesterséges Intelligencia Tanszék (TMIT)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A0C221A-5EE3-763B-FC25-85DD8BF7A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62DD461A-B46E-40BB-9401-56EC0CE18AF4}" type="slidenum">
              <a:rPr lang="hu-HU" smtClean="0"/>
              <a:t>1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764095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933C54-D033-814A-9C4D-43B6DD0C3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Motiváció és problémafelvetés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A853794-1321-8A82-061E-F806F918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Esport növekedés</a:t>
            </a:r>
          </a:p>
          <a:p>
            <a:pPr lvl="1"/>
            <a:r>
              <a:rPr lang="hu-HU" dirty="0"/>
              <a:t>Több milliós játékosbázis</a:t>
            </a:r>
          </a:p>
          <a:p>
            <a:pPr lvl="1"/>
            <a:r>
              <a:rPr lang="hu-HU" dirty="0"/>
              <a:t>AI és sportanalitika terjedése</a:t>
            </a:r>
          </a:p>
          <a:p>
            <a:r>
              <a:rPr lang="hu-HU" dirty="0"/>
              <a:t>League of </a:t>
            </a:r>
            <a:r>
              <a:rPr lang="hu-HU" dirty="0" err="1"/>
              <a:t>Legends</a:t>
            </a:r>
            <a:r>
              <a:rPr lang="hu-HU" dirty="0"/>
              <a:t> komplexitása</a:t>
            </a:r>
          </a:p>
          <a:p>
            <a:pPr lvl="1"/>
            <a:r>
              <a:rPr lang="hu-HU" dirty="0"/>
              <a:t>Időfüggő döntések</a:t>
            </a:r>
          </a:p>
          <a:p>
            <a:pPr lvl="1"/>
            <a:r>
              <a:rPr lang="hu-HU" dirty="0"/>
              <a:t>Többszereplős stratégiai játék </a:t>
            </a:r>
          </a:p>
          <a:p>
            <a:r>
              <a:rPr lang="hu-HU" dirty="0" err="1"/>
              <a:t>Win</a:t>
            </a:r>
            <a:r>
              <a:rPr lang="hu-HU" dirty="0"/>
              <a:t> </a:t>
            </a:r>
            <a:r>
              <a:rPr lang="hu-HU" dirty="0" err="1"/>
              <a:t>probability</a:t>
            </a:r>
            <a:r>
              <a:rPr lang="hu-HU" dirty="0"/>
              <a:t> modellezés</a:t>
            </a:r>
          </a:p>
          <a:p>
            <a:pPr lvl="1"/>
            <a:r>
              <a:rPr lang="hu-HU" dirty="0"/>
              <a:t>Kompetitív környezet elemzése</a:t>
            </a:r>
          </a:p>
          <a:p>
            <a:pPr lvl="1"/>
            <a:r>
              <a:rPr lang="hu-HU" dirty="0"/>
              <a:t>Challenger Korea </a:t>
            </a:r>
            <a:r>
              <a:rPr lang="hu-HU" dirty="0" err="1"/>
              <a:t>dataset</a:t>
            </a:r>
            <a:endParaRPr lang="hu-HU" dirty="0"/>
          </a:p>
          <a:p>
            <a:r>
              <a:rPr lang="hu-HU" dirty="0"/>
              <a:t>Személyes érdeklődés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0D097FA-3D9A-BC59-C0D1-815E1271C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62DD461A-B46E-40BB-9401-56EC0CE18AF4}" type="slidenum">
              <a:rPr lang="hu-HU" smtClean="0"/>
              <a:t>2</a:t>
            </a:fld>
            <a:r>
              <a:rPr lang="hu-HU" dirty="0"/>
              <a:t>/14</a:t>
            </a:r>
          </a:p>
        </p:txBody>
      </p:sp>
      <p:pic>
        <p:nvPicPr>
          <p:cNvPr id="2050" name="Picture 2" descr="League Of Legends Adc GIFs - Find &amp; Share on GIPHY">
            <a:extLst>
              <a:ext uri="{FF2B5EF4-FFF2-40B4-BE49-F238E27FC236}">
                <a16:creationId xmlns:a16="http://schemas.microsoft.com/office/drawing/2014/main" id="{524308DA-3901-4C68-8B5C-34AD7803E77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987" y="2302014"/>
            <a:ext cx="6144193" cy="3404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12496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4C7F24-55CD-B895-F4F3-BD3A0689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Vizsgált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E5957C-891C-0F74-4924-366D13529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Meccsek 50-50-ről indulnak?</a:t>
            </a:r>
          </a:p>
          <a:p>
            <a:pPr lvl="1"/>
            <a:r>
              <a:rPr lang="hu-HU" dirty="0" err="1"/>
              <a:t>Blue</a:t>
            </a:r>
            <a:r>
              <a:rPr lang="hu-HU" dirty="0"/>
              <a:t> </a:t>
            </a:r>
            <a:r>
              <a:rPr lang="hu-HU" dirty="0" err="1"/>
              <a:t>Side</a:t>
            </a:r>
            <a:r>
              <a:rPr lang="hu-HU" dirty="0"/>
              <a:t> előny</a:t>
            </a:r>
          </a:p>
          <a:p>
            <a:r>
              <a:rPr lang="hu-HU" dirty="0" err="1"/>
              <a:t>Championok</a:t>
            </a:r>
            <a:r>
              <a:rPr lang="hu-HU" dirty="0"/>
              <a:t> fontossága</a:t>
            </a:r>
          </a:p>
          <a:p>
            <a:pPr lvl="1"/>
            <a:r>
              <a:rPr lang="hu-HU" dirty="0" err="1"/>
              <a:t>Solo</a:t>
            </a:r>
            <a:r>
              <a:rPr lang="hu-HU" dirty="0"/>
              <a:t> </a:t>
            </a:r>
            <a:r>
              <a:rPr lang="hu-HU" dirty="0" err="1"/>
              <a:t>queue</a:t>
            </a:r>
            <a:r>
              <a:rPr lang="hu-HU" dirty="0"/>
              <a:t> környezet, limitált kommunikáció</a:t>
            </a:r>
          </a:p>
          <a:p>
            <a:r>
              <a:rPr lang="hu-HU" dirty="0" err="1"/>
              <a:t>Win</a:t>
            </a:r>
            <a:r>
              <a:rPr lang="hu-HU" dirty="0"/>
              <a:t> </a:t>
            </a:r>
            <a:r>
              <a:rPr lang="hu-HU" dirty="0" err="1"/>
              <a:t>probability</a:t>
            </a:r>
            <a:endParaRPr lang="hu-HU" dirty="0"/>
          </a:p>
          <a:p>
            <a:pPr lvl="1"/>
            <a:r>
              <a:rPr lang="hu-HU" dirty="0" err="1"/>
              <a:t>Event-driven</a:t>
            </a:r>
            <a:r>
              <a:rPr lang="hu-HU" dirty="0"/>
              <a:t> megközelítés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5BB8FC7-E18C-2D62-3270-27846E07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62DD461A-B46E-40BB-9401-56EC0CE18AF4}" type="slidenum">
              <a:rPr lang="hu-HU" smtClean="0"/>
              <a:t>3</a:t>
            </a:fld>
            <a:r>
              <a:rPr lang="hu-HU" dirty="0"/>
              <a:t>/14</a:t>
            </a:r>
          </a:p>
        </p:txBody>
      </p:sp>
      <p:pic>
        <p:nvPicPr>
          <p:cNvPr id="1026" name="Picture 2" descr="Ten Ton Hammer | New League of Legends HUD Heads to the PBE">
            <a:extLst>
              <a:ext uri="{FF2B5EF4-FFF2-40B4-BE49-F238E27FC236}">
                <a16:creationId xmlns:a16="http://schemas.microsoft.com/office/drawing/2014/main" id="{B8D1F273-652A-4628-A415-3CEFE8D82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178" y="3232430"/>
            <a:ext cx="5584950" cy="353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557726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75BD8D-5091-75E5-43F9-00AEA674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Adatgyűjtés és </a:t>
            </a:r>
            <a:r>
              <a:rPr lang="hu-HU" dirty="0" err="1"/>
              <a:t>pipeline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6464CF5-84B3-F32B-6741-B59121939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Riot API</a:t>
            </a:r>
          </a:p>
          <a:p>
            <a:pPr lvl="1"/>
            <a:r>
              <a:rPr lang="hu-HU" dirty="0"/>
              <a:t>Match </a:t>
            </a:r>
            <a:r>
              <a:rPr lang="hu-HU" dirty="0" err="1"/>
              <a:t>history</a:t>
            </a:r>
            <a:r>
              <a:rPr lang="hu-HU" dirty="0"/>
              <a:t> lekérdezések, és azok feldolgozása</a:t>
            </a:r>
          </a:p>
          <a:p>
            <a:r>
              <a:rPr lang="hu-HU" dirty="0"/>
              <a:t>Challenger Korea </a:t>
            </a:r>
            <a:r>
              <a:rPr lang="hu-HU" dirty="0" err="1"/>
              <a:t>ladder</a:t>
            </a:r>
            <a:endParaRPr lang="hu-HU" dirty="0"/>
          </a:p>
          <a:p>
            <a:pPr lvl="1"/>
            <a:r>
              <a:rPr lang="hu-HU" dirty="0"/>
              <a:t>Legmagasabb </a:t>
            </a:r>
            <a:r>
              <a:rPr lang="hu-HU" dirty="0" err="1"/>
              <a:t>ranked</a:t>
            </a:r>
            <a:r>
              <a:rPr lang="hu-HU" dirty="0"/>
              <a:t> szint</a:t>
            </a:r>
          </a:p>
          <a:p>
            <a:pPr lvl="1"/>
            <a:r>
              <a:rPr lang="hu-HU" dirty="0"/>
              <a:t>Kompetitív </a:t>
            </a:r>
            <a:r>
              <a:rPr lang="hu-HU" dirty="0" err="1"/>
              <a:t>meta</a:t>
            </a:r>
            <a:endParaRPr lang="hu-HU" dirty="0"/>
          </a:p>
          <a:p>
            <a:r>
              <a:rPr lang="hu-HU" dirty="0"/>
              <a:t>Feldolgozási </a:t>
            </a:r>
            <a:r>
              <a:rPr lang="hu-HU" dirty="0" err="1"/>
              <a:t>pipeline</a:t>
            </a:r>
            <a:endParaRPr lang="hu-HU" dirty="0"/>
          </a:p>
          <a:p>
            <a:pPr lvl="1"/>
            <a:r>
              <a:rPr lang="hu-HU" dirty="0"/>
              <a:t>Batch alapú mentés</a:t>
            </a:r>
          </a:p>
          <a:p>
            <a:pPr lvl="1"/>
            <a:r>
              <a:rPr lang="hu-HU" dirty="0"/>
              <a:t>Több millió sor</a:t>
            </a:r>
          </a:p>
          <a:p>
            <a:r>
              <a:rPr lang="hu-HU" dirty="0"/>
              <a:t>API </a:t>
            </a:r>
            <a:r>
              <a:rPr lang="hu-HU" dirty="0" err="1"/>
              <a:t>rate</a:t>
            </a:r>
            <a:r>
              <a:rPr lang="hu-HU" dirty="0"/>
              <a:t> limit</a:t>
            </a:r>
          </a:p>
          <a:p>
            <a:r>
              <a:rPr lang="hu-HU" dirty="0" err="1"/>
              <a:t>Event-driven</a:t>
            </a:r>
            <a:r>
              <a:rPr lang="hu-HU" dirty="0"/>
              <a:t> </a:t>
            </a:r>
            <a:r>
              <a:rPr lang="hu-HU" dirty="0" err="1"/>
              <a:t>dataset</a:t>
            </a:r>
            <a:endParaRPr lang="hu-HU" dirty="0"/>
          </a:p>
          <a:p>
            <a:pPr lvl="1"/>
            <a:r>
              <a:rPr lang="hu-HU" dirty="0"/>
              <a:t>Új esemény -&gt; Új sor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CCBB765-9421-F0A1-CBBE-C840636D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62DD461A-B46E-40BB-9401-56EC0CE18AF4}" type="slidenum">
              <a:rPr lang="hu-HU" smtClean="0"/>
              <a:t>4</a:t>
            </a:fld>
            <a:r>
              <a:rPr lang="hu-HU" dirty="0"/>
              <a:t>/14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DE6A737-55C5-38F5-87DE-7F9CFF7D3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20" y="5851020"/>
            <a:ext cx="9244263" cy="65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844306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258F3C-4A92-A682-93D1-0ED57C176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Dataset</a:t>
            </a:r>
            <a:r>
              <a:rPr lang="hu-HU" dirty="0"/>
              <a:t> felépítése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CD4A611-ABF0-D49F-6680-0ADBDA2A5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Adatmennyiség</a:t>
            </a:r>
          </a:p>
          <a:p>
            <a:pPr lvl="1"/>
            <a:r>
              <a:rPr lang="hu-HU" dirty="0"/>
              <a:t>10 223 meccs</a:t>
            </a:r>
          </a:p>
          <a:p>
            <a:pPr lvl="1"/>
            <a:r>
              <a:rPr lang="hu-HU" dirty="0"/>
              <a:t>Több millió </a:t>
            </a:r>
            <a:r>
              <a:rPr lang="hu-HU" dirty="0" err="1"/>
              <a:t>timestamp</a:t>
            </a:r>
            <a:endParaRPr lang="hu-HU" dirty="0"/>
          </a:p>
          <a:p>
            <a:pPr lvl="1"/>
            <a:r>
              <a:rPr lang="hu-HU" dirty="0"/>
              <a:t>~1200 sor / meccs</a:t>
            </a:r>
          </a:p>
          <a:p>
            <a:r>
              <a:rPr lang="hu-HU" dirty="0" err="1"/>
              <a:t>Feature</a:t>
            </a:r>
            <a:r>
              <a:rPr lang="hu-HU" dirty="0"/>
              <a:t> </a:t>
            </a:r>
            <a:r>
              <a:rPr lang="hu-HU" dirty="0" err="1"/>
              <a:t>space</a:t>
            </a:r>
            <a:endParaRPr lang="hu-HU" dirty="0"/>
          </a:p>
          <a:p>
            <a:pPr lvl="1"/>
            <a:r>
              <a:rPr lang="hu-HU" dirty="0"/>
              <a:t>704 </a:t>
            </a:r>
            <a:r>
              <a:rPr lang="hu-HU" dirty="0" err="1"/>
              <a:t>feature</a:t>
            </a:r>
            <a:endParaRPr lang="hu-HU" dirty="0"/>
          </a:p>
          <a:p>
            <a:pPr lvl="1"/>
            <a:r>
              <a:rPr lang="hu-HU" dirty="0"/>
              <a:t>+344 </a:t>
            </a:r>
            <a:r>
              <a:rPr lang="hu-HU" dirty="0" err="1"/>
              <a:t>champion</a:t>
            </a:r>
            <a:r>
              <a:rPr lang="hu-HU" dirty="0"/>
              <a:t> </a:t>
            </a:r>
            <a:r>
              <a:rPr lang="hu-HU" dirty="0" err="1"/>
              <a:t>feature</a:t>
            </a:r>
            <a:endParaRPr lang="hu-HU" dirty="0"/>
          </a:p>
          <a:p>
            <a:r>
              <a:rPr lang="hu-HU" dirty="0" err="1"/>
              <a:t>Eventek</a:t>
            </a:r>
            <a:endParaRPr lang="hu-HU" dirty="0"/>
          </a:p>
          <a:p>
            <a:pPr lvl="1"/>
            <a:r>
              <a:rPr lang="hu-HU" dirty="0" err="1"/>
              <a:t>Item</a:t>
            </a:r>
            <a:r>
              <a:rPr lang="hu-HU" dirty="0"/>
              <a:t> vásárlás, </a:t>
            </a:r>
            <a:r>
              <a:rPr lang="hu-HU" dirty="0" err="1"/>
              <a:t>kill</a:t>
            </a:r>
            <a:r>
              <a:rPr lang="hu-HU" dirty="0"/>
              <a:t>, </a:t>
            </a:r>
            <a:r>
              <a:rPr lang="hu-HU" dirty="0" err="1"/>
              <a:t>ward</a:t>
            </a:r>
            <a:r>
              <a:rPr lang="hu-HU" dirty="0"/>
              <a:t> </a:t>
            </a:r>
            <a:r>
              <a:rPr lang="hu-HU" dirty="0" err="1"/>
              <a:t>place</a:t>
            </a:r>
            <a:r>
              <a:rPr lang="hu-HU" dirty="0"/>
              <a:t>…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ADE8F25-3832-0782-9443-926B7DE2A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62DD461A-B46E-40BB-9401-56EC0CE18AF4}" type="slidenum">
              <a:rPr lang="hu-HU" smtClean="0"/>
              <a:t>5</a:t>
            </a:fld>
            <a:r>
              <a:rPr lang="hu-HU" dirty="0"/>
              <a:t>/14</a:t>
            </a:r>
          </a:p>
        </p:txBody>
      </p:sp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2CA1DA00-0388-3AFF-FFFD-2C3590064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468091"/>
              </p:ext>
            </p:extLst>
          </p:nvPr>
        </p:nvGraphicFramePr>
        <p:xfrm>
          <a:off x="4795492" y="2418580"/>
          <a:ext cx="6075039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95301147"/>
                    </a:ext>
                  </a:extLst>
                </a:gridCol>
                <a:gridCol w="3365706">
                  <a:extLst>
                    <a:ext uri="{9D8B030D-6E8A-4147-A177-3AD203B41FA5}">
                      <a16:colId xmlns:a16="http://schemas.microsoft.com/office/drawing/2014/main" val="170753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Kategória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Példa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174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Azonosítók és időbélyegek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match_id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timestamp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hu-H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107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Játékos szintű statisztikák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currentGold_p1, positionX_p1, level_p1</a:t>
                      </a:r>
                      <a:endParaRPr lang="hu-H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54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Csapatkülönbség alapú statisztikák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totalGold_diff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xp_diff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level_diff</a:t>
                      </a:r>
                      <a:endParaRPr lang="hu-H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294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Kumulatív statisztikák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cum_CHAMPION_KILL_diff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tower_diff</a:t>
                      </a:r>
                      <a:endParaRPr lang="hu-H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41416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Champion</a:t>
                      </a:r>
                      <a:r>
                        <a:rPr lang="hu-H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feature-ök</a:t>
                      </a:r>
                      <a:endParaRPr lang="hu-H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15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396435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026187-8EB3-4A7B-B638-2D9E29FC8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Pillanatkép</a:t>
            </a:r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1EEE3C24-783A-41EB-A9D1-BC19D8ED4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128" y="1215353"/>
            <a:ext cx="5172635" cy="5550572"/>
          </a:xfrm>
        </p:spPr>
      </p:pic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ABF6BE7-B8E5-414B-9E72-BC47F039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62DD461A-B46E-40BB-9401-56EC0CE18AF4}" type="slidenum">
              <a:rPr lang="hu-HU" smtClean="0"/>
              <a:pPr/>
              <a:t>6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501378426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50F525-6621-4CD4-A972-E286BF31D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Exploratory</a:t>
            </a:r>
            <a:r>
              <a:rPr lang="hu-HU" dirty="0"/>
              <a:t> Data </a:t>
            </a:r>
            <a:r>
              <a:rPr lang="hu-HU" dirty="0" err="1"/>
              <a:t>Analysis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85C98C-2CE9-43A0-B36F-A61FB096B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Match </a:t>
            </a:r>
            <a:r>
              <a:rPr lang="hu-HU" dirty="0" err="1"/>
              <a:t>duration</a:t>
            </a:r>
            <a:r>
              <a:rPr lang="hu-HU" dirty="0"/>
              <a:t> eloszlás</a:t>
            </a:r>
          </a:p>
          <a:p>
            <a:pPr lvl="1"/>
            <a:r>
              <a:rPr lang="hu-HU" dirty="0"/>
              <a:t>15 perces </a:t>
            </a:r>
            <a:r>
              <a:rPr lang="hu-HU" dirty="0" err="1"/>
              <a:t>surrender</a:t>
            </a:r>
            <a:r>
              <a:rPr lang="hu-HU" dirty="0"/>
              <a:t> </a:t>
            </a:r>
            <a:r>
              <a:rPr lang="hu-HU" dirty="0" err="1"/>
              <a:t>spike</a:t>
            </a:r>
            <a:endParaRPr lang="hu-HU" dirty="0"/>
          </a:p>
          <a:p>
            <a:r>
              <a:rPr lang="hu-HU" dirty="0"/>
              <a:t>Erős </a:t>
            </a:r>
            <a:r>
              <a:rPr lang="hu-HU" dirty="0" err="1"/>
              <a:t>prediktorok</a:t>
            </a:r>
            <a:endParaRPr lang="hu-HU" dirty="0"/>
          </a:p>
          <a:p>
            <a:pPr lvl="1"/>
            <a:r>
              <a:rPr lang="hu-HU" dirty="0"/>
              <a:t>Gold különbség</a:t>
            </a:r>
          </a:p>
          <a:p>
            <a:pPr lvl="1"/>
            <a:r>
              <a:rPr lang="hu-HU" dirty="0"/>
              <a:t>XP különbség</a:t>
            </a:r>
          </a:p>
          <a:p>
            <a:r>
              <a:rPr lang="hu-HU" dirty="0"/>
              <a:t>Strukturális előnyök</a:t>
            </a:r>
          </a:p>
          <a:p>
            <a:pPr lvl="1"/>
            <a:r>
              <a:rPr lang="hu-HU" dirty="0" err="1"/>
              <a:t>Blue</a:t>
            </a:r>
            <a:r>
              <a:rPr lang="hu-HU" dirty="0"/>
              <a:t> </a:t>
            </a:r>
            <a:r>
              <a:rPr lang="hu-HU" dirty="0" err="1"/>
              <a:t>Side</a:t>
            </a:r>
            <a:r>
              <a:rPr lang="hu-HU" dirty="0"/>
              <a:t> </a:t>
            </a:r>
            <a:r>
              <a:rPr lang="hu-HU" dirty="0" err="1"/>
              <a:t>advantage</a:t>
            </a:r>
            <a:endParaRPr lang="hu-HU" dirty="0"/>
          </a:p>
          <a:p>
            <a:pPr lvl="1"/>
            <a:r>
              <a:rPr lang="hu-HU" dirty="0" err="1"/>
              <a:t>Objective</a:t>
            </a:r>
            <a:r>
              <a:rPr lang="hu-HU" dirty="0"/>
              <a:t> </a:t>
            </a:r>
            <a:r>
              <a:rPr lang="hu-HU" dirty="0" err="1"/>
              <a:t>control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5374DC3-3044-4F2D-9931-9E615426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62DD461A-B46E-40BB-9401-56EC0CE18AF4}" type="slidenum">
              <a:rPr lang="hu-HU" smtClean="0"/>
              <a:pPr/>
              <a:t>7</a:t>
            </a:fld>
            <a:r>
              <a:rPr lang="hu-HU" dirty="0"/>
              <a:t>/14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202271A-0457-441A-AE52-E6BB011A6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981" y="2021849"/>
            <a:ext cx="6123531" cy="396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392884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A334D4-1BB5-FAB5-3720-C313CC893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Időfüggő </a:t>
            </a:r>
            <a:r>
              <a:rPr lang="hu-HU" dirty="0" err="1"/>
              <a:t>win</a:t>
            </a:r>
            <a:r>
              <a:rPr lang="hu-HU" dirty="0"/>
              <a:t> </a:t>
            </a:r>
            <a:r>
              <a:rPr lang="hu-HU" dirty="0" err="1"/>
              <a:t>probability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18EB76-2CED-B5EE-B473-3B180CEA0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Early</a:t>
            </a:r>
            <a:r>
              <a:rPr lang="hu-HU" dirty="0"/>
              <a:t> game</a:t>
            </a:r>
          </a:p>
          <a:p>
            <a:pPr lvl="1"/>
            <a:r>
              <a:rPr lang="hu-HU" dirty="0"/>
              <a:t>Bizonytalanság</a:t>
            </a:r>
          </a:p>
          <a:p>
            <a:r>
              <a:rPr lang="hu-HU" dirty="0" err="1"/>
              <a:t>Late</a:t>
            </a:r>
            <a:r>
              <a:rPr lang="hu-HU" dirty="0"/>
              <a:t> game</a:t>
            </a:r>
          </a:p>
          <a:p>
            <a:pPr lvl="1"/>
            <a:r>
              <a:rPr lang="hu-HU" dirty="0"/>
              <a:t>Stabilabb </a:t>
            </a:r>
            <a:r>
              <a:rPr lang="hu-HU" dirty="0" err="1"/>
              <a:t>predikció</a:t>
            </a:r>
            <a:endParaRPr lang="hu-HU" dirty="0"/>
          </a:p>
          <a:p>
            <a:pPr lvl="1"/>
            <a:r>
              <a:rPr lang="hu-HU" dirty="0"/>
              <a:t>Gold </a:t>
            </a:r>
            <a:r>
              <a:rPr lang="hu-HU" dirty="0" err="1"/>
              <a:t>advantage</a:t>
            </a:r>
            <a:r>
              <a:rPr lang="hu-HU" dirty="0"/>
              <a:t> dominál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28F58EE-0D72-F2E7-E176-1D8E663F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62DD461A-B46E-40BB-9401-56EC0CE18AF4}" type="slidenum">
              <a:rPr lang="hu-HU" smtClean="0"/>
              <a:t>8</a:t>
            </a:fld>
            <a:r>
              <a:rPr lang="hu-HU" dirty="0"/>
              <a:t>/14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4C915C1-CE96-C661-6E07-24E73DDDC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742" y="2590800"/>
            <a:ext cx="6658976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71133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BF97A1-50E9-F2E9-9F6B-2CFC4BAFB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Alkalmazott modellek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4CCC4C3-2953-2853-5D77-2292D0523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 err="1"/>
              <a:t>Logistic</a:t>
            </a:r>
            <a:r>
              <a:rPr lang="hu-HU" dirty="0"/>
              <a:t> </a:t>
            </a:r>
            <a:r>
              <a:rPr lang="hu-HU" dirty="0" err="1"/>
              <a:t>Regression</a:t>
            </a:r>
            <a:endParaRPr lang="hu-HU" dirty="0"/>
          </a:p>
          <a:p>
            <a:pPr lvl="1"/>
            <a:r>
              <a:rPr lang="hu-HU" dirty="0" err="1"/>
              <a:t>Baseline</a:t>
            </a:r>
            <a:r>
              <a:rPr lang="hu-HU" dirty="0"/>
              <a:t> modell</a:t>
            </a:r>
          </a:p>
          <a:p>
            <a:pPr lvl="1"/>
            <a:r>
              <a:rPr lang="hu-HU" dirty="0"/>
              <a:t>Lineáris kapcsolatok</a:t>
            </a:r>
          </a:p>
          <a:p>
            <a:r>
              <a:rPr lang="hu-HU" dirty="0" err="1"/>
              <a:t>XGBoost</a:t>
            </a:r>
            <a:endParaRPr lang="hu-HU" dirty="0"/>
          </a:p>
          <a:p>
            <a:pPr lvl="1"/>
            <a:r>
              <a:rPr lang="hu-HU" dirty="0"/>
              <a:t>Nemlineáris kapcsolatok</a:t>
            </a:r>
          </a:p>
          <a:p>
            <a:r>
              <a:rPr lang="hu-HU" dirty="0" err="1"/>
              <a:t>XGBoost</a:t>
            </a:r>
            <a:r>
              <a:rPr lang="hu-HU" dirty="0"/>
              <a:t> + </a:t>
            </a:r>
            <a:r>
              <a:rPr lang="hu-HU" dirty="0" err="1"/>
              <a:t>champion</a:t>
            </a:r>
            <a:r>
              <a:rPr lang="hu-HU" dirty="0"/>
              <a:t> </a:t>
            </a:r>
            <a:r>
              <a:rPr lang="hu-HU" dirty="0" err="1"/>
              <a:t>feature-ök</a:t>
            </a:r>
            <a:endParaRPr lang="hu-HU" dirty="0"/>
          </a:p>
          <a:p>
            <a:r>
              <a:rPr lang="hu-HU" dirty="0" err="1"/>
              <a:t>Hiperparaméter</a:t>
            </a:r>
            <a:r>
              <a:rPr lang="hu-HU" dirty="0"/>
              <a:t>-optimalizálás</a:t>
            </a:r>
          </a:p>
          <a:p>
            <a:pPr lvl="1"/>
            <a:r>
              <a:rPr lang="hu-HU" dirty="0" err="1"/>
              <a:t>GridSearch</a:t>
            </a:r>
            <a:endParaRPr lang="hu-HU" dirty="0"/>
          </a:p>
          <a:p>
            <a:pPr lvl="2"/>
            <a:r>
              <a:rPr lang="en-US" dirty="0" err="1"/>
              <a:t>max_depth</a:t>
            </a:r>
            <a:r>
              <a:rPr lang="en-US" dirty="0"/>
              <a:t>, </a:t>
            </a:r>
            <a:r>
              <a:rPr lang="en-US" dirty="0" err="1"/>
              <a:t>learning_rate</a:t>
            </a:r>
            <a:r>
              <a:rPr lang="en-US" dirty="0"/>
              <a:t>, </a:t>
            </a:r>
            <a:r>
              <a:rPr lang="en-US" dirty="0" err="1"/>
              <a:t>n_estimators</a:t>
            </a:r>
            <a:r>
              <a:rPr lang="en-US" dirty="0"/>
              <a:t> </a:t>
            </a:r>
            <a:endParaRPr lang="hu-HU" dirty="0"/>
          </a:p>
          <a:p>
            <a:r>
              <a:rPr lang="hu-HU" dirty="0"/>
              <a:t>LSTM</a:t>
            </a:r>
          </a:p>
          <a:p>
            <a:pPr lvl="1"/>
            <a:r>
              <a:rPr lang="hu-HU" dirty="0"/>
              <a:t>Szekvencia alapú modellezés</a:t>
            </a:r>
          </a:p>
          <a:p>
            <a:pPr lvl="1"/>
            <a:r>
              <a:rPr lang="hu-HU" dirty="0"/>
              <a:t>Optimalizálás</a:t>
            </a:r>
          </a:p>
          <a:p>
            <a:pPr lvl="2"/>
            <a:r>
              <a:rPr lang="hu-HU" dirty="0" err="1"/>
              <a:t>Regularizáció</a:t>
            </a:r>
            <a:r>
              <a:rPr lang="hu-HU" dirty="0"/>
              <a:t>, </a:t>
            </a:r>
            <a:r>
              <a:rPr lang="hu-HU" dirty="0" err="1"/>
              <a:t>Dropout</a:t>
            </a:r>
            <a:r>
              <a:rPr lang="hu-HU" dirty="0"/>
              <a:t>, </a:t>
            </a:r>
            <a:r>
              <a:rPr lang="hu-HU" dirty="0" err="1"/>
              <a:t>Early</a:t>
            </a:r>
            <a:r>
              <a:rPr lang="hu-HU" dirty="0"/>
              <a:t> </a:t>
            </a:r>
            <a:r>
              <a:rPr lang="hu-HU" dirty="0" err="1"/>
              <a:t>stopping</a:t>
            </a:r>
            <a:endParaRPr lang="hu-HU" dirty="0"/>
          </a:p>
          <a:p>
            <a:pPr lvl="2"/>
            <a:endParaRPr lang="hu-HU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54CC423-4F2F-6497-9C2E-8E89193F1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62DD461A-B46E-40BB-9401-56EC0CE18AF4}" type="slidenum">
              <a:rPr lang="hu-HU" smtClean="0"/>
              <a:pPr/>
              <a:t>9</a:t>
            </a:fld>
            <a:r>
              <a:rPr lang="hu-HU" dirty="0"/>
              <a:t>/14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4E750A7-E08A-4403-9707-3465A7420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903" y="2158771"/>
            <a:ext cx="5047225" cy="402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21524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19755B-B2B2-2F52-24FB-006F0CA1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Eredmények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6086859-8C70-74F3-2F93-8471FABB1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XGBoost</a:t>
            </a:r>
            <a:r>
              <a:rPr lang="hu-HU" dirty="0"/>
              <a:t> teljesített a legjobban </a:t>
            </a:r>
          </a:p>
          <a:p>
            <a:pPr lvl="1"/>
            <a:r>
              <a:rPr lang="hu-HU" dirty="0"/>
              <a:t>Legmagasabb ROC-AUC</a:t>
            </a:r>
          </a:p>
          <a:p>
            <a:pPr lvl="1"/>
            <a:r>
              <a:rPr lang="hu-HU" dirty="0"/>
              <a:t>Stabil </a:t>
            </a:r>
            <a:r>
              <a:rPr lang="hu-HU" dirty="0" err="1"/>
              <a:t>predikció</a:t>
            </a:r>
            <a:endParaRPr lang="hu-HU" dirty="0"/>
          </a:p>
          <a:p>
            <a:r>
              <a:rPr lang="hu-HU" dirty="0" err="1"/>
              <a:t>Champion</a:t>
            </a:r>
            <a:r>
              <a:rPr lang="hu-HU" dirty="0"/>
              <a:t> </a:t>
            </a:r>
            <a:r>
              <a:rPr lang="hu-HU" dirty="0" err="1"/>
              <a:t>feature</a:t>
            </a:r>
            <a:r>
              <a:rPr lang="hu-HU" dirty="0"/>
              <a:t> javított ROC-AUC-</a:t>
            </a:r>
            <a:r>
              <a:rPr lang="hu-HU" dirty="0" err="1"/>
              <a:t>on</a:t>
            </a:r>
            <a:endParaRPr lang="hu-HU" dirty="0"/>
          </a:p>
          <a:p>
            <a:r>
              <a:rPr lang="hu-HU" dirty="0"/>
              <a:t>LSTM problémák</a:t>
            </a:r>
          </a:p>
          <a:p>
            <a:pPr lvl="1"/>
            <a:r>
              <a:rPr lang="hu-HU" dirty="0"/>
              <a:t>Overfitting</a:t>
            </a:r>
          </a:p>
          <a:p>
            <a:pPr lvl="1"/>
            <a:r>
              <a:rPr lang="hu-HU" dirty="0"/>
              <a:t>Nagy számítási igény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4BC13B9-667B-4336-2EAF-4739E320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0000" lnSpcReduction="20000"/>
          </a:bodyPr>
          <a:lstStyle/>
          <a:p>
            <a:fld id="{62DD461A-B46E-40BB-9401-56EC0CE18AF4}" type="slidenum">
              <a:rPr lang="hu-HU" smtClean="0"/>
              <a:pPr/>
              <a:t>10</a:t>
            </a:fld>
            <a:r>
              <a:rPr lang="hu-HU" dirty="0"/>
              <a:t>/14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68F3174-3101-16D3-27A0-304E02C68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887" y="2757211"/>
            <a:ext cx="6739336" cy="356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10944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725E56-77F9-5C40-0F2E-45CC4FBF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Feature</a:t>
            </a:r>
            <a:r>
              <a:rPr lang="hu-HU" dirty="0"/>
              <a:t> </a:t>
            </a:r>
            <a:r>
              <a:rPr lang="hu-HU" dirty="0" err="1"/>
              <a:t>importance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5842F5E-5142-BC97-0E44-405F1F65E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Domináns </a:t>
            </a:r>
            <a:r>
              <a:rPr lang="hu-HU" dirty="0" err="1"/>
              <a:t>feature-ök</a:t>
            </a:r>
            <a:endParaRPr lang="hu-HU" dirty="0"/>
          </a:p>
          <a:p>
            <a:pPr lvl="1"/>
            <a:r>
              <a:rPr lang="hu-HU" dirty="0"/>
              <a:t>Gold különbség</a:t>
            </a:r>
          </a:p>
          <a:p>
            <a:pPr lvl="1"/>
            <a:r>
              <a:rPr lang="hu-HU" dirty="0"/>
              <a:t>XP különbség</a:t>
            </a:r>
          </a:p>
          <a:p>
            <a:r>
              <a:rPr lang="hu-HU" dirty="0" err="1"/>
              <a:t>Objective</a:t>
            </a:r>
            <a:r>
              <a:rPr lang="hu-HU" dirty="0"/>
              <a:t> </a:t>
            </a:r>
            <a:r>
              <a:rPr lang="hu-HU" dirty="0" err="1"/>
              <a:t>control</a:t>
            </a:r>
            <a:endParaRPr lang="hu-HU" dirty="0"/>
          </a:p>
          <a:p>
            <a:pPr lvl="1"/>
            <a:r>
              <a:rPr lang="hu-HU" dirty="0"/>
              <a:t>Sárkány, Baron</a:t>
            </a:r>
          </a:p>
          <a:p>
            <a:pPr lvl="1"/>
            <a:r>
              <a:rPr lang="hu-HU" dirty="0"/>
              <a:t>Tornyok</a:t>
            </a:r>
          </a:p>
          <a:p>
            <a:r>
              <a:rPr lang="hu-HU" dirty="0" err="1"/>
              <a:t>Champion</a:t>
            </a:r>
            <a:r>
              <a:rPr lang="hu-HU" dirty="0"/>
              <a:t> </a:t>
            </a:r>
            <a:r>
              <a:rPr lang="hu-HU" dirty="0" err="1"/>
              <a:t>feature-ök</a:t>
            </a:r>
            <a:endParaRPr lang="hu-HU" dirty="0"/>
          </a:p>
          <a:p>
            <a:pPr lvl="1"/>
            <a:r>
              <a:rPr lang="hu-HU" dirty="0"/>
              <a:t>Kontextuális információ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6B976A5-255A-68A9-D8E8-7EEA4B44E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0000" lnSpcReduction="20000"/>
          </a:bodyPr>
          <a:lstStyle/>
          <a:p>
            <a:fld id="{62DD461A-B46E-40BB-9401-56EC0CE18AF4}" type="slidenum">
              <a:rPr lang="hu-HU" smtClean="0"/>
              <a:pPr/>
              <a:t>11</a:t>
            </a:fld>
            <a:r>
              <a:rPr lang="hu-HU" dirty="0"/>
              <a:t>/14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F5F7018-9495-1AA1-5C61-6A868AB13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927" y="1562100"/>
            <a:ext cx="5121442" cy="512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4557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79E35D-7FCE-FBA8-B6FD-9B354DD97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Win</a:t>
            </a:r>
            <a:r>
              <a:rPr lang="hu-HU" dirty="0"/>
              <a:t> </a:t>
            </a:r>
            <a:r>
              <a:rPr lang="hu-HU" dirty="0" err="1"/>
              <a:t>probability</a:t>
            </a:r>
            <a:r>
              <a:rPr lang="hu-HU" dirty="0"/>
              <a:t> </a:t>
            </a:r>
            <a:r>
              <a:rPr lang="hu-HU" dirty="0" err="1"/>
              <a:t>timestampenként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9768144-DE42-974D-1A93-8D7A66E78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Timestamp</a:t>
            </a:r>
            <a:r>
              <a:rPr lang="hu-HU" dirty="0"/>
              <a:t> alapú </a:t>
            </a:r>
            <a:r>
              <a:rPr lang="hu-HU" dirty="0" err="1"/>
              <a:t>predikció</a:t>
            </a:r>
            <a:endParaRPr lang="hu-HU" dirty="0"/>
          </a:p>
          <a:p>
            <a:pPr lvl="1"/>
            <a:r>
              <a:rPr lang="hu-HU" dirty="0" err="1"/>
              <a:t>Eventenkénti</a:t>
            </a:r>
            <a:r>
              <a:rPr lang="hu-HU" dirty="0"/>
              <a:t> frissítés</a:t>
            </a:r>
          </a:p>
          <a:p>
            <a:r>
              <a:rPr lang="hu-HU" dirty="0"/>
              <a:t>Momentum változások követése</a:t>
            </a:r>
          </a:p>
          <a:p>
            <a:pPr lvl="1"/>
            <a:r>
              <a:rPr lang="hu-HU" dirty="0" err="1"/>
              <a:t>Killek</a:t>
            </a:r>
            <a:r>
              <a:rPr lang="hu-HU" dirty="0"/>
              <a:t> és </a:t>
            </a:r>
            <a:r>
              <a:rPr lang="hu-HU" dirty="0" err="1"/>
              <a:t>objective</a:t>
            </a:r>
            <a:r>
              <a:rPr lang="hu-HU" dirty="0"/>
              <a:t>-ek</a:t>
            </a:r>
          </a:p>
          <a:p>
            <a:r>
              <a:rPr lang="hu-HU" dirty="0" err="1"/>
              <a:t>Event-driven</a:t>
            </a:r>
            <a:r>
              <a:rPr lang="hu-HU" dirty="0"/>
              <a:t> reprezentáció előnye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BC6DD16-2251-77CB-5F2A-3554F4DB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0000" lnSpcReduction="20000"/>
          </a:bodyPr>
          <a:lstStyle/>
          <a:p>
            <a:fld id="{62DD461A-B46E-40BB-9401-56EC0CE18AF4}" type="slidenum">
              <a:rPr lang="hu-HU" smtClean="0"/>
              <a:pPr/>
              <a:t>12</a:t>
            </a:fld>
            <a:r>
              <a:rPr lang="hu-HU" dirty="0"/>
              <a:t>/14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B8BD81D-0B63-1B37-7BC0-DC77E9541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671"/>
          <a:stretch/>
        </p:blipFill>
        <p:spPr>
          <a:xfrm>
            <a:off x="1997116" y="4004468"/>
            <a:ext cx="7124871" cy="242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55887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7BFA90-F49B-4A27-5B91-88CD123F5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Összegzés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7D48CE-9AC3-82EF-C616-7FDDB5925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Sikeres ML-alapú </a:t>
            </a:r>
            <a:r>
              <a:rPr lang="hu-HU" dirty="0" err="1"/>
              <a:t>win</a:t>
            </a:r>
            <a:r>
              <a:rPr lang="hu-HU" dirty="0"/>
              <a:t> </a:t>
            </a:r>
            <a:r>
              <a:rPr lang="hu-HU" dirty="0" err="1"/>
              <a:t>probability</a:t>
            </a:r>
            <a:r>
              <a:rPr lang="hu-HU" dirty="0"/>
              <a:t> modell</a:t>
            </a:r>
          </a:p>
          <a:p>
            <a:pPr lvl="1"/>
            <a:r>
              <a:rPr lang="hu-HU" dirty="0"/>
              <a:t>Több megközelítésből</a:t>
            </a:r>
          </a:p>
          <a:p>
            <a:r>
              <a:rPr lang="hu-HU" dirty="0"/>
              <a:t>Legfontosabb eredmények</a:t>
            </a:r>
          </a:p>
          <a:p>
            <a:pPr lvl="1"/>
            <a:r>
              <a:rPr lang="hu-HU" dirty="0" err="1"/>
              <a:t>XGBoost</a:t>
            </a:r>
            <a:r>
              <a:rPr lang="hu-HU" dirty="0"/>
              <a:t> dominancia</a:t>
            </a:r>
          </a:p>
          <a:p>
            <a:pPr lvl="1"/>
            <a:r>
              <a:rPr lang="hu-HU" dirty="0" err="1"/>
              <a:t>Blue</a:t>
            </a:r>
            <a:r>
              <a:rPr lang="hu-HU" dirty="0"/>
              <a:t> </a:t>
            </a:r>
            <a:r>
              <a:rPr lang="hu-HU" dirty="0" err="1"/>
              <a:t>Side</a:t>
            </a:r>
            <a:r>
              <a:rPr lang="hu-HU" dirty="0"/>
              <a:t> </a:t>
            </a:r>
            <a:r>
              <a:rPr lang="hu-HU" dirty="0" err="1"/>
              <a:t>advantage</a:t>
            </a:r>
            <a:endParaRPr lang="hu-HU" dirty="0"/>
          </a:p>
          <a:p>
            <a:r>
              <a:rPr lang="hu-HU" dirty="0" err="1"/>
              <a:t>Future</a:t>
            </a:r>
            <a:r>
              <a:rPr lang="hu-HU" dirty="0"/>
              <a:t> </a:t>
            </a:r>
            <a:r>
              <a:rPr lang="hu-HU" dirty="0" err="1"/>
              <a:t>work</a:t>
            </a:r>
            <a:r>
              <a:rPr lang="hu-HU" dirty="0"/>
              <a:t>:</a:t>
            </a:r>
          </a:p>
          <a:p>
            <a:pPr lvl="1"/>
            <a:r>
              <a:rPr lang="hu-HU" dirty="0"/>
              <a:t>Több régiós analízis</a:t>
            </a:r>
          </a:p>
          <a:p>
            <a:pPr lvl="1"/>
            <a:r>
              <a:rPr lang="hu-HU" dirty="0"/>
              <a:t>Advanced </a:t>
            </a:r>
            <a:r>
              <a:rPr lang="hu-HU" dirty="0" err="1"/>
              <a:t>deep</a:t>
            </a:r>
            <a:r>
              <a:rPr lang="hu-HU" dirty="0"/>
              <a:t> </a:t>
            </a:r>
            <a:r>
              <a:rPr lang="hu-HU" dirty="0" err="1"/>
              <a:t>learning</a:t>
            </a:r>
            <a:endParaRPr lang="hu-HU" dirty="0"/>
          </a:p>
          <a:p>
            <a:pPr lvl="1"/>
            <a:r>
              <a:rPr lang="hu-HU" dirty="0"/>
              <a:t>LSTM optimalizálása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37A69B8-745E-48DA-BB52-2BA22D43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0000" lnSpcReduction="20000"/>
          </a:bodyPr>
          <a:lstStyle/>
          <a:p>
            <a:fld id="{62DD461A-B46E-40BB-9401-56EC0CE18AF4}" type="slidenum">
              <a:rPr lang="hu-HU" smtClean="0"/>
              <a:pPr/>
              <a:t>13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836728471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3FDE8D-54E4-4BF0-9A6A-376AEB7D99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u-HU" dirty="0"/>
              <a:t>Kérdések?</a:t>
            </a:r>
            <a:br>
              <a:rPr lang="hu-HU" dirty="0"/>
            </a:br>
            <a:r>
              <a:rPr lang="hu-HU" dirty="0"/>
              <a:t>Köszönöm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83EC85D-9B2F-4CA0-BFBD-EB5E8C1880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316E7C6-6619-414E-9A8A-1E13DD56E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0000" lnSpcReduction="20000"/>
          </a:bodyPr>
          <a:lstStyle/>
          <a:p>
            <a:fld id="{62DD461A-B46E-40BB-9401-56EC0CE18AF4}" type="slidenum">
              <a:rPr lang="hu-HU" smtClean="0"/>
              <a:pPr/>
              <a:t>14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92167206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Nézet">
  <a:themeElements>
    <a:clrScheme name="Nézet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Nézet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Nézet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TM03457515[[fn=Nézet]]</Template>
  <TotalTime>213</TotalTime>
  <Words>380</Words>
  <Application>Microsoft Office PowerPoint</Application>
  <PresentationFormat>Szélesvásznú</PresentationFormat>
  <Paragraphs>133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9" baseType="lpstr">
      <vt:lpstr>Aptos</vt:lpstr>
      <vt:lpstr>Arial</vt:lpstr>
      <vt:lpstr>Century Schoolbook</vt:lpstr>
      <vt:lpstr>Wingdings 2</vt:lpstr>
      <vt:lpstr>Nézet</vt:lpstr>
      <vt:lpstr>League of Legends Analitika</vt:lpstr>
      <vt:lpstr>Motiváció és problémafelvetés</vt:lpstr>
      <vt:lpstr>Vizsgált kérdések</vt:lpstr>
      <vt:lpstr>Adatgyűjtés és pipeline</vt:lpstr>
      <vt:lpstr>Dataset felépítése</vt:lpstr>
      <vt:lpstr>Pillanatkép</vt:lpstr>
      <vt:lpstr>Exploratory Data Analysis</vt:lpstr>
      <vt:lpstr>Időfüggő win probability</vt:lpstr>
      <vt:lpstr>Alkalmazott modellek</vt:lpstr>
      <vt:lpstr>Eredmények</vt:lpstr>
      <vt:lpstr>Feature importance</vt:lpstr>
      <vt:lpstr>Win probability timestampenként</vt:lpstr>
      <vt:lpstr>Összegzés</vt:lpstr>
      <vt:lpstr>Kérdések? 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League of Legends Analitika</dc:title>
  <dc:creator>Balázs Bognár</dc:creator>
  <cp:lastModifiedBy>Balázs Bognár</cp:lastModifiedBy>
  <cp:revision>24</cp:revision>
  <dcterms:created xsi:type="dcterms:W3CDTF">2026-05-24T14:13:13Z</dcterms:created>
  <dcterms:modified xsi:type="dcterms:W3CDTF">2026-05-27T11:39:28Z</dcterms:modified>
</cp:coreProperties>
</file>